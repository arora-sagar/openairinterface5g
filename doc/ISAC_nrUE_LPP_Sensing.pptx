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110642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4000" b="1" i="0">
                <a:solidFill>
                  <a:srgbClr val="1F4E79"/>
                </a:solidFill>
                <a:latin typeface="Calibri"/>
              </a:rPr>
              <a:t>Enabling ISAC on the OAI nrUE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2E4057"/>
                </a:solidFill>
                <a:latin typeface="Calibri"/>
              </a:rPr>
              <a:t>Integrated Sensing &amp; Communication via LPP, PRS and the T-tracer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Design overview — the nrUE as a joint sensing device and communication terminal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71800"/>
            <a:ext cx="5349240" cy="3108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4892040" cy="2788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Today in OAI  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(baseline)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•  LPP (TS 37.355) exists as ASN.1 grammar only (openair3/LPP, Rel-16 g60) — compiled but not linked; no UE positioning entity.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•  nrUE PRS reception computes per-antenna DL ToA, RSRP and SNR (nr_prs_channel_estimation).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•  CFO is estimated (PSS/PBCH) for compensation only; dl_aoa is a placeholder; per-antenna CIR is discarded.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•  Positioning stack (NRPPa / F1AP) lives on the gNB side, not the 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971800"/>
            <a:ext cx="534924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3154680"/>
            <a:ext cx="4892040" cy="2788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ISAC target  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(this work)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8C3B00"/>
                </a:solidFill>
                <a:latin typeface="Calibri"/>
              </a:rPr>
              <a:t>UL/DL AoA, AoD &amp; Doppler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derived at PHY and exported for sensing via the </a:t>
            </a:r>
            <a:r>
              <a:rPr sz="1250" b="1" i="0">
                <a:solidFill>
                  <a:srgbClr val="8C3B00"/>
                </a:solidFill>
                <a:latin typeface="Calibri"/>
              </a:rPr>
              <a:t>T-tracer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8C3B00"/>
                </a:solidFill>
                <a:latin typeface="Calibri"/>
              </a:rPr>
              <a:t>PRS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reused as the sensing waveform — CIR → range / angle / Doppler.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E6B3A"/>
                </a:solidFill>
                <a:latin typeface="Calibri"/>
              </a:rPr>
              <a:t>GPS &amp; UE location / assistance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delivered over </a:t>
            </a:r>
            <a:r>
              <a:rPr sz="1250" b="1" i="0">
                <a:solidFill>
                  <a:srgbClr val="1E6B3A"/>
                </a:solidFill>
                <a:latin typeface="Calibri"/>
              </a:rPr>
              <a:t>LPP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(A-GNSS, NR-DL-AoD, Multi-RTT, DL-TDOA).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One nrUE = </a:t>
            </a:r>
            <a:r>
              <a:rPr sz="1250" b="1" i="0">
                <a:solidFill>
                  <a:srgbClr val="2E4057"/>
                </a:solidFill>
                <a:latin typeface="Calibri"/>
              </a:rPr>
              <a:t>communication + sensing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on the same PRS/SRS signalling.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0" i="1">
                <a:solidFill>
                  <a:srgbClr val="5A5A5A"/>
                </a:solidFill>
                <a:latin typeface="Calibri"/>
              </a:rPr>
              <a:t>Scope grounded in the OAI codebase and 3GPP Rel-16/17 ISAC &amp; LPP concepts.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1F4E79"/>
                </a:solidFill>
                <a:latin typeface="Calibri"/>
              </a:rPr>
              <a:t>How AoA / AoD / Doppler &amp; GPS are obtained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32688"/>
            <a:ext cx="11274552" cy="30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0" i="1">
                <a:solidFill>
                  <a:srgbClr val="5A5A5A"/>
                </a:solidFill>
                <a:latin typeface="Calibri"/>
              </a:rPr>
              <a:t>PRS/SRS → PHY observables → T-tracer export (sensing)  |  measurements + GPS → LPP (communication / positioning)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75887" cy="475488"/>
          </a:xfrm>
          <a:prstGeom prst="roundRect">
            <a:avLst/>
          </a:prstGeom>
          <a:solidFill>
            <a:srgbClr val="8C3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1 . PRS → range &amp; angle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1103" y="1234440"/>
            <a:ext cx="3675887" cy="475488"/>
          </a:xfrm>
          <a:prstGeom prst="roundRect">
            <a:avLst/>
          </a:prstGeom>
          <a:solidFill>
            <a:srgbClr val="8C3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2 . Doppler / velocity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6" y="1234440"/>
            <a:ext cx="3675887" cy="475488"/>
          </a:xfrm>
          <a:prstGeom prst="roundRect">
            <a:avLst/>
          </a:prstGeom>
          <a:solidFill>
            <a:srgbClr val="1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3 . GPS time &amp; UE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3584447" cy="2880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F4E79"/>
                </a:solidFill>
                <a:latin typeface="Calibri"/>
              </a:rPr>
              <a:t>DL: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PRS channel estimate → CIR (IDFT). Peak = </a:t>
            </a:r>
            <a:r>
              <a:rPr sz="1200" b="1" i="0">
                <a:solidFill>
                  <a:srgbClr val="8C3B00"/>
                </a:solidFill>
                <a:latin typeface="Calibri"/>
              </a:rPr>
              <a:t>ToA / range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Per-Rx-antenna complex CIR already computed → inter-antenna phase gives </a:t>
            </a:r>
            <a:r>
              <a:rPr sz="1200" b="1" i="0">
                <a:solidFill>
                  <a:srgbClr val="8C3B00"/>
                </a:solidFill>
                <a:latin typeface="Calibri"/>
              </a:rPr>
              <a:t>DL-AoA / AoD</a:t>
            </a:r>
            <a:r>
              <a:rPr sz="1200" b="1" i="0">
                <a:solidFill>
                  <a:srgbClr val="5A5A5A"/>
                </a:solidFill>
                <a:latin typeface="Calibri"/>
              </a:rPr>
              <a:t> (to add).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F4E79"/>
                </a:solidFill>
                <a:latin typeface="Calibri"/>
              </a:rPr>
              <a:t>UL: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gNB SRS → ToA &amp; UL-AoA (NRPPa / F1AP positioning).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Also available: </a:t>
            </a:r>
            <a:r>
              <a:rPr sz="1200" b="1" i="0">
                <a:solidFill>
                  <a:srgbClr val="8C3B00"/>
                </a:solidFill>
                <a:latin typeface="Calibri"/>
              </a:rPr>
              <a:t>RSRP, SNR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per antenna for detection gating.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6823" y="1801368"/>
            <a:ext cx="3584447" cy="2880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CFO estimated at sync (</a:t>
            </a:r>
            <a:r>
              <a:rPr sz="1200" b="1" i="0">
                <a:solidFill>
                  <a:srgbClr val="8C3B00"/>
                </a:solidFill>
                <a:latin typeface="Calibri"/>
              </a:rPr>
              <a:t>PSS fractional + PBCH fine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), stored as freq_offset.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Phase drift of PRS CIR across occasions → </a:t>
            </a:r>
            <a:r>
              <a:rPr sz="1200" b="1" i="0">
                <a:solidFill>
                  <a:srgbClr val="8C3B00"/>
                </a:solidFill>
                <a:latin typeface="Calibri"/>
              </a:rPr>
              <a:t>Doppler shift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→ radial velocity.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freq↔velocity math already in NTN path (dl_Doppler_shift).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Coherent integration over PRS occasions → </a:t>
            </a:r>
            <a:r>
              <a:rPr sz="1200" b="1" i="0">
                <a:solidFill>
                  <a:srgbClr val="8C3B00"/>
                </a:solidFill>
                <a:latin typeface="Calibri"/>
              </a:rPr>
              <a:t>range–Doppler map</a:t>
            </a:r>
            <a:r>
              <a:rPr sz="1200" b="1" i="0">
                <a:solidFill>
                  <a:srgbClr val="5A5A5A"/>
                </a:solidFill>
                <a:latin typeface="Calibri"/>
              </a:rPr>
              <a:t> (to add).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6" y="1801368"/>
            <a:ext cx="3584447" cy="2880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GPSDO on the RF front-end gives </a:t>
            </a:r>
            <a:r>
              <a:rPr sz="1200" b="1" i="0">
                <a:solidFill>
                  <a:srgbClr val="1E6B3A"/>
                </a:solidFill>
                <a:latin typeface="Calibri"/>
              </a:rPr>
              <a:t>absolute GPS/TAI time + 1-PPS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(sync_to_gps).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Timestamps every sensing measurement; aligns multi-gNB PRS.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UE geodetic location &amp; assistance via </a:t>
            </a:r>
            <a:r>
              <a:rPr sz="1200" b="1" i="0">
                <a:solidFill>
                  <a:srgbClr val="1E6B3A"/>
                </a:solidFill>
                <a:latin typeface="Calibri"/>
              </a:rPr>
              <a:t>LPP A-GNSS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(assistance data + navigation model).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LPP ProvideLocationInformation carries NR-DL-AoD / Multi-RTT / DL-TDOA + Velocity.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60"/>
            <a:ext cx="5504688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3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516636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C3B00"/>
                </a:solidFill>
                <a:latin typeface="Calibri"/>
              </a:rPr>
              <a:t>SENSING export — T-tracer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New event in T_messages.txt, e.g. </a:t>
            </a:r>
            <a:r>
              <a:rPr sz="1150" b="1" i="0">
                <a:solidFill>
                  <a:srgbClr val="8C3B00"/>
                </a:solidFill>
                <a:latin typeface="Calibri"/>
              </a:rPr>
              <a:t>T_UE_PHY_SENSING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: frame:slot:aoa:aod:doppler:toa:rsrp.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Emitted with the </a:t>
            </a:r>
            <a:r>
              <a:rPr sz="1150" b="1" i="0">
                <a:solidFill>
                  <a:srgbClr val="8C3B00"/>
                </a:solidFill>
                <a:latin typeface="Calibri"/>
              </a:rPr>
              <a:t>T(…)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macro at the PRS chest site (as existing T_UE_PHY_DL_CHANNEL_ESTIMATE).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Collected live by </a:t>
            </a:r>
            <a:r>
              <a:rPr sz="1150" b="1" i="0">
                <a:solidFill>
                  <a:srgbClr val="8C3B00"/>
                </a:solidFill>
                <a:latin typeface="Calibri"/>
              </a:rPr>
              <a:t>record / textlog / extract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→ offline range–Doppler / angle 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709160"/>
            <a:ext cx="5504688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4800600"/>
            <a:ext cx="516636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B3A"/>
                </a:solidFill>
                <a:latin typeface="Calibri"/>
              </a:rPr>
              <a:t>COMMUNICATION / positioning export — LPP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New UE LPP entity links the existing </a:t>
            </a:r>
            <a:r>
              <a:rPr sz="1150" b="1" i="0">
                <a:solidFill>
                  <a:srgbClr val="1E6B3A"/>
                </a:solidFill>
                <a:latin typeface="Calibri"/>
              </a:rPr>
              <a:t>asn1_lpp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codec (37355-g60).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Transports LPP transparently over NAS/RRC to the </a:t>
            </a:r>
            <a:r>
              <a:rPr sz="1150" b="1" i="0">
                <a:solidFill>
                  <a:srgbClr val="1E6B3A"/>
                </a:solidFill>
                <a:latin typeface="Calibri"/>
              </a:rPr>
              <a:t>LMF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Capabilities → Assistance → ProvideLocationInformation with the measured AoA/AoD/ToA/Doppler + GNSS.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600" b="1" i="0">
                <a:solidFill>
                  <a:srgbClr val="1F4E79"/>
                </a:solidFill>
                <a:latin typeface="Calibri"/>
              </a:rPr>
              <a:t>nrUE as a joint sensing + communication node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32688"/>
            <a:ext cx="11274552" cy="30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0" i="1">
                <a:solidFill>
                  <a:srgbClr val="5A5A5A"/>
                </a:solidFill>
                <a:latin typeface="Calibri"/>
              </a:rPr>
              <a:t>One PHY, two outputs: sensing observables (T-tracer) and positioning/comms (LPP to LMF)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1691640" cy="13716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gNB / TRP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749039"/>
            <a:ext cx="1965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Calibri"/>
              </a:rPr>
              <a:t>DL PRS  /  UL SRS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1417320"/>
            <a:ext cx="1463040" cy="658368"/>
          </a:xfrm>
          <a:prstGeom prst="ellipse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Object /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057400"/>
            <a:ext cx="2880360" cy="1965960"/>
          </a:xfrm>
          <a:prstGeom prst="round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26517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OAI nrUE  —  PHY</a:t>
            </a:r>
          </a:p>
          <a:p>
            <a:pPr algn="ctr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PRS channel est. → CIR</a:t>
            </a:r>
          </a:p>
          <a:p>
            <a:pPr algn="ctr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ToA / RSRP / SNR</a:t>
            </a:r>
          </a:p>
          <a:p>
            <a:pPr algn="ctr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per-antenna CIR (AoA/AoD)</a:t>
            </a:r>
          </a:p>
          <a:p>
            <a:pPr algn="ctr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CFO → Doppler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160520"/>
            <a:ext cx="2880360" cy="457200"/>
          </a:xfrm>
          <a:prstGeom prst="roundRect">
            <a:avLst/>
          </a:prstGeom>
          <a:solidFill>
            <a:srgbClr val="1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GPSDO: GPS/TAI time + 1-PPS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234440"/>
            <a:ext cx="2468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3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8C3B00"/>
                </a:solidFill>
                <a:latin typeface="Calibri"/>
              </a:rPr>
              <a:t>T-tracer</a:t>
            </a:r>
          </a:p>
          <a:p>
            <a:pPr algn="ctr"/>
            <a:r>
              <a:rPr sz="1250" b="0" i="0">
                <a:solidFill>
                  <a:srgbClr val="8C3B00"/>
                </a:solidFill>
                <a:latin typeface="Calibri"/>
              </a:rPr>
              <a:t>T_UE_PHY_SENSING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234440"/>
            <a:ext cx="2286000" cy="10515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3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8C3B00"/>
                </a:solidFill>
                <a:latin typeface="Calibri"/>
              </a:rPr>
              <a:t>SENSING</a:t>
            </a:r>
          </a:p>
          <a:p>
            <a:pPr algn="ctr"/>
            <a:r>
              <a:rPr sz="1100" b="0" i="0">
                <a:solidFill>
                  <a:srgbClr val="8C3B00"/>
                </a:solidFill>
                <a:latin typeface="Calibri"/>
              </a:rPr>
              <a:t>range · AoA/AoD · Doppler</a:t>
            </a:r>
          </a:p>
          <a:p>
            <a:pPr algn="ctr"/>
            <a:r>
              <a:rPr sz="1100" b="0" i="0">
                <a:solidFill>
                  <a:srgbClr val="8C3B00"/>
                </a:solidFill>
                <a:latin typeface="Calibri"/>
              </a:rPr>
              <a:t>range–Doppler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520440"/>
            <a:ext cx="2468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E6B3A"/>
                </a:solidFill>
                <a:latin typeface="Calibri"/>
              </a:rPr>
              <a:t>LPP entity</a:t>
            </a:r>
          </a:p>
          <a:p>
            <a:pPr algn="ctr"/>
            <a:r>
              <a:rPr sz="1200" b="0" i="0">
                <a:solidFill>
                  <a:srgbClr val="1E6B3A"/>
                </a:solidFill>
                <a:latin typeface="Calibri"/>
              </a:rPr>
              <a:t>(asn1_lpp / TS 37.355)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3520440"/>
            <a:ext cx="2286000" cy="10515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1E6B3A"/>
                </a:solidFill>
                <a:latin typeface="Calibri"/>
              </a:rPr>
              <a:t>LMF</a:t>
            </a:r>
          </a:p>
          <a:p>
            <a:pPr algn="ctr"/>
            <a:r>
              <a:rPr sz="1150" b="0" i="0">
                <a:solidFill>
                  <a:srgbClr val="1E6B3A"/>
                </a:solidFill>
                <a:latin typeface="Calibri"/>
              </a:rPr>
              <a:t>position fix +</a:t>
            </a:r>
          </a:p>
          <a:p>
            <a:pPr algn="ctr"/>
            <a:r>
              <a:rPr sz="1150" b="0" i="0">
                <a:solidFill>
                  <a:srgbClr val="1E6B3A"/>
                </a:solidFill>
                <a:latin typeface="Calibri"/>
              </a:rPr>
              <a:t>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590288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 i="0">
                <a:solidFill>
                  <a:srgbClr val="1E6B3A"/>
                </a:solidFill>
                <a:latin typeface="Calibri"/>
              </a:rPr>
              <a:t>transparent over NAS / RRC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03120" y="2788920"/>
            <a:ext cx="68580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103120" y="3246120"/>
            <a:ext cx="68580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00200" y="2075688"/>
            <a:ext cx="1234440" cy="393192"/>
          </a:xfrm>
          <a:prstGeom prst="line">
            <a:avLst/>
          </a:prstGeom>
          <a:ln w="22225">
            <a:solidFill>
              <a:srgbClr val="8C3B00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84831" y="14813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8C3B00"/>
                </a:solidFill>
                <a:latin typeface="Calibri"/>
              </a:rPr>
              <a:t>echo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669280" y="1783080"/>
            <a:ext cx="1051560" cy="868680"/>
          </a:xfrm>
          <a:prstGeom prst="line">
            <a:avLst/>
          </a:prstGeom>
          <a:ln w="25400">
            <a:solidFill>
              <a:srgbClr val="8C3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89720" y="1755648"/>
            <a:ext cx="320040" cy="0"/>
          </a:xfrm>
          <a:prstGeom prst="line">
            <a:avLst/>
          </a:prstGeom>
          <a:ln w="25400">
            <a:solidFill>
              <a:srgbClr val="8C3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3383280"/>
            <a:ext cx="1051560" cy="658368"/>
          </a:xfrm>
          <a:prstGeom prst="line">
            <a:avLst/>
          </a:prstGeom>
          <a:ln w="25400">
            <a:solidFill>
              <a:srgbClr val="1E6B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89720" y="4041648"/>
            <a:ext cx="320040" cy="0"/>
          </a:xfrm>
          <a:prstGeom prst="line">
            <a:avLst/>
          </a:prstGeom>
          <a:ln w="25400">
            <a:solidFill>
              <a:srgbClr val="1E6B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06240" y="4617720"/>
            <a:ext cx="0" cy="0"/>
          </a:xfrm>
          <a:prstGeom prst="line">
            <a:avLst/>
          </a:prstGeom>
          <a:ln w="12700">
            <a:solidFill>
              <a:srgbClr val="1E6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23560" y="2057400"/>
            <a:ext cx="1280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8C3B00"/>
                </a:solidFill>
                <a:latin typeface="Calibri"/>
              </a:rPr>
              <a:t>sensing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611880"/>
            <a:ext cx="1280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E6B3A"/>
                </a:solidFill>
                <a:latin typeface="Calibri"/>
              </a:rPr>
              <a:t>positioning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074920"/>
            <a:ext cx="6035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Status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E6B3A"/>
                </a:solidFill>
                <a:latin typeface="Calibri"/>
              </a:rPr>
              <a:t>✓  </a:t>
            </a:r>
            <a:r>
              <a:rPr sz="1150" b="1" i="0">
                <a:solidFill>
                  <a:srgbClr val="1E6B3A"/>
                </a:solidFill>
                <a:latin typeface="Calibri"/>
              </a:rPr>
              <a:t>Exists today: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PRS ToA/RSRP/SNR, per-antenna CIR, CFO, LPP ASN.1, GPSDO time, T-tracer.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C3B00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8C3B00"/>
                </a:solidFill>
                <a:latin typeface="Calibri"/>
              </a:rPr>
              <a:t>To add for ISAC: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AoA/AoD &amp; Doppler estimators, sensing T-event, UE LPP entity + NAS/RRC transport.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074920"/>
            <a:ext cx="51206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Legend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C3B00"/>
                </a:solidFill>
                <a:latin typeface="Calibri"/>
              </a:rPr>
              <a:t>■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sensing data path — T-tracer (range, AoA/AoD, Doppler).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E6B3A"/>
                </a:solidFill>
                <a:latin typeface="Calibri"/>
              </a:rPr>
              <a:t>■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communication / positioning path — LPP, GPS.</a:t>
            </a:r>
          </a:p>
          <a:p>
            <a:pPr marL="219456" indent="-219456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4E79"/>
                </a:solidFill>
                <a:latin typeface="Calibri"/>
              </a:rPr>
              <a:t>■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PRS (DL) / SRS (UL) radio link.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